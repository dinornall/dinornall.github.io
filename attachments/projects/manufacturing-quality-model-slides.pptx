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Dinor</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19d7a480a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19d7a480a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  30-40 sec Nabeel</a:t>
            </a:r>
            <a:endParaRPr/>
          </a:p>
          <a:p>
            <a:pPr indent="0" lvl="0" marL="0" rtl="0" algn="l">
              <a:lnSpc>
                <a:spcPct val="115000"/>
              </a:lnSpc>
              <a:spcBef>
                <a:spcPts val="1200"/>
              </a:spcBef>
              <a:spcAft>
                <a:spcPts val="0"/>
              </a:spcAft>
              <a:buNone/>
            </a:pPr>
            <a:r>
              <a:rPr lang="en">
                <a:solidFill>
                  <a:schemeClr val="dk1"/>
                </a:solidFill>
              </a:rPr>
              <a:t>The fundamental problem we are addressing is the </a:t>
            </a:r>
            <a:r>
              <a:rPr b="1" lang="en">
                <a:solidFill>
                  <a:schemeClr val="dk1"/>
                </a:solidFill>
              </a:rPr>
              <a:t>reactive</a:t>
            </a:r>
            <a:r>
              <a:rPr lang="en">
                <a:solidFill>
                  <a:schemeClr val="dk1"/>
                </a:solidFill>
              </a:rPr>
              <a:t> nature of traditional quality control. Manufacturers typically inspect products </a:t>
            </a:r>
            <a:r>
              <a:rPr i="1" lang="en">
                <a:solidFill>
                  <a:schemeClr val="dk1"/>
                </a:solidFill>
              </a:rPr>
              <a:t>after</a:t>
            </a:r>
            <a:r>
              <a:rPr lang="en">
                <a:solidFill>
                  <a:schemeClr val="dk1"/>
                </a:solidFill>
              </a:rPr>
              <a:t> they are fully produced. This process often results in high scrap rates and increased costs because defects are only discovered at the end of the line, wasting all the material and time that went into that product."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"Our objective was to shift this paradigm by developing a proactive model that can </a:t>
            </a:r>
            <a:r>
              <a:rPr b="1" lang="en">
                <a:solidFill>
                  <a:schemeClr val="dk1"/>
                </a:solidFill>
              </a:rPr>
              <a:t>forecast the 'Quality Rating'</a:t>
            </a:r>
            <a:r>
              <a:rPr lang="en">
                <a:solidFill>
                  <a:schemeClr val="dk1"/>
                </a:solidFill>
              </a:rPr>
              <a:t> of a product in real-time, based on live process data. Over the next few minutes, we will detail our methodology, compare the performance of two different models, and provide actionable recommendations for real-world quality improvement."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19d7a480a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19d7a480a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 Sevak</a:t>
            </a:r>
            <a:endParaRPr/>
          </a:p>
          <a:p>
            <a:pPr indent="0" lvl="0" marL="0" rtl="0" algn="l">
              <a:lnSpc>
                <a:spcPct val="115000"/>
              </a:lnSpc>
              <a:spcBef>
                <a:spcPts val="1200"/>
              </a:spcBef>
              <a:spcAft>
                <a:spcPts val="0"/>
              </a:spcAft>
              <a:buNone/>
            </a:pPr>
            <a:r>
              <a:rPr lang="en">
                <a:solidFill>
                  <a:schemeClr val="dk1"/>
                </a:solidFill>
              </a:rPr>
              <a:t>"The data for our analysis comes from the </a:t>
            </a:r>
            <a:r>
              <a:rPr b="1" lang="en">
                <a:solidFill>
                  <a:schemeClr val="dk1"/>
                </a:solidFill>
              </a:rPr>
              <a:t>'Manufacturing Quality Prediction Dataset'</a:t>
            </a:r>
            <a:r>
              <a:rPr lang="en">
                <a:solidFill>
                  <a:schemeClr val="dk1"/>
                </a:solidFill>
              </a:rPr>
              <a:t> on Kaggle. We focused on a crucial manufacturing metric: the </a:t>
            </a:r>
            <a:r>
              <a:rPr b="1" lang="en">
                <a:solidFill>
                  <a:schemeClr val="dk1"/>
                </a:solidFill>
              </a:rPr>
              <a:t>Quality Rating</a:t>
            </a:r>
            <a:r>
              <a:rPr lang="en">
                <a:solidFill>
                  <a:schemeClr val="dk1"/>
                </a:solidFill>
              </a:rPr>
              <a:t>, which served as our target variable, or the 'Y' we are trying to predict."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"Our input features, the 'X' variables, are a combination of two types: First, the basic </a:t>
            </a:r>
            <a:r>
              <a:rPr b="1" lang="en">
                <a:solidFill>
                  <a:schemeClr val="dk1"/>
                </a:solidFill>
              </a:rPr>
              <a:t>Process Parameters</a:t>
            </a:r>
            <a:r>
              <a:rPr lang="en">
                <a:solidFill>
                  <a:schemeClr val="dk1"/>
                </a:solidFill>
              </a:rPr>
              <a:t> like Temperature and Pressure. Second, the </a:t>
            </a:r>
            <a:r>
              <a:rPr b="1" lang="en">
                <a:solidFill>
                  <a:schemeClr val="dk1"/>
                </a:solidFill>
              </a:rPr>
              <a:t>Derived Metrics</a:t>
            </a:r>
            <a:r>
              <a:rPr lang="en">
                <a:solidFill>
                  <a:schemeClr val="dk1"/>
                </a:solidFill>
              </a:rPr>
              <a:t>, which are non-linear transformations of those parameters—things like the Material Fusion Metric and the Material Transformation Metric. These metrics often capture complex chemical or physical interactions better than the basic parameters alone." </a:t>
            </a:r>
            <a:r>
              <a:rPr b="1" lang="en">
                <a:solidFill>
                  <a:schemeClr val="dk1"/>
                </a:solidFill>
              </a:rPr>
              <a:t>-20 sec</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"Before modeling, our data was found to be very clean, with no missing values. We did, however, use a </a:t>
            </a:r>
            <a:r>
              <a:rPr b="1" lang="en">
                <a:solidFill>
                  <a:schemeClr val="dk1"/>
                </a:solidFill>
              </a:rPr>
              <a:t>StandardScaler</a:t>
            </a:r>
            <a:r>
              <a:rPr lang="en">
                <a:solidFill>
                  <a:schemeClr val="dk1"/>
                </a:solidFill>
              </a:rPr>
              <a:t> to normalize the features. This is critical for models like Linear Regression to ensure that no single feature dominates the learning process simply because it has a larger scale."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you look at the </a:t>
            </a:r>
            <a:r>
              <a:rPr b="1" lang="en">
                <a:solidFill>
                  <a:schemeClr val="dk1"/>
                </a:solidFill>
              </a:rPr>
              <a:t>Correlation Heatmap</a:t>
            </a:r>
            <a:r>
              <a:rPr lang="en">
                <a:solidFill>
                  <a:schemeClr val="dk1"/>
                </a:solidFill>
              </a:rPr>
              <a:t> on the slide, you can immediately see the relationships. Notice the strong correlation between some of the derived metrics and the final Quality Rating. This suggests a complex, but predictable, relationship." </a:t>
            </a:r>
            <a:r>
              <a:rPr b="1" lang="en">
                <a:solidFill>
                  <a:schemeClr val="dk1"/>
                </a:solidFill>
              </a:rPr>
              <a:t>-15 sec</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"Given these complex relationships, we knew we couldn't rely on just one type of model. We needed a robust comparison. "   </a:t>
            </a:r>
            <a:r>
              <a:rPr b="1" lang="en">
                <a:solidFill>
                  <a:schemeClr val="dk1"/>
                </a:solidFill>
              </a:rPr>
              <a:t>-10 sec</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9d7a480a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19d7a480a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Dinor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find the most effective predictive tool, we decided to compare two distinct modeling approaches. The goal was to see if a simple, interpretable model could handle the non-linear complexity we saw in the data, or if we needed a more powerful, complex approach."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rigorous testing, we used a standard </a:t>
            </a:r>
            <a:r>
              <a:rPr b="1" lang="en">
                <a:solidFill>
                  <a:schemeClr val="dk1"/>
                </a:solidFill>
              </a:rPr>
              <a:t>80/20 train-test split</a:t>
            </a:r>
            <a:r>
              <a:rPr lang="en">
                <a:solidFill>
                  <a:schemeClr val="dk1"/>
                </a:solidFill>
              </a:rPr>
              <a:t>. This ensures that 20% of our data is completely unseen during training, giving us an unbiased measure of how well the models generalize to new, real-world products." -</a:t>
            </a:r>
            <a:r>
              <a:rPr b="1" lang="en">
                <a:solidFill>
                  <a:schemeClr val="dk1"/>
                </a:solidFill>
              </a:rPr>
              <a:t>15 sec</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"Our first model was </a:t>
            </a:r>
            <a:r>
              <a:rPr b="1" lang="en">
                <a:solidFill>
                  <a:schemeClr val="dk1"/>
                </a:solidFill>
              </a:rPr>
              <a:t>Linear Regression</a:t>
            </a:r>
            <a:r>
              <a:rPr lang="en">
                <a:solidFill>
                  <a:schemeClr val="dk1"/>
                </a:solidFill>
              </a:rPr>
              <a:t>, which served as our interpretable baseline. It assumes the relationship between inputs and quality is a simple straight line. This model has the advantage of </a:t>
            </a:r>
            <a:r>
              <a:rPr b="1" lang="en">
                <a:solidFill>
                  <a:schemeClr val="dk1"/>
                </a:solidFill>
              </a:rPr>
              <a:t>high interpretability</a:t>
            </a:r>
            <a:r>
              <a:rPr lang="en">
                <a:solidFill>
                  <a:schemeClr val="dk1"/>
                </a:solidFill>
              </a:rPr>
              <a:t>: if it works, you know exactly how each parameter affects the quality score." </a:t>
            </a:r>
            <a:r>
              <a:rPr b="1" lang="en">
                <a:solidFill>
                  <a:schemeClr val="dk1"/>
                </a:solidFill>
              </a:rPr>
              <a:t>-15 sec</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Our second model was the </a:t>
            </a:r>
            <a:r>
              <a:rPr b="1" lang="en">
                <a:solidFill>
                  <a:schemeClr val="dk1"/>
                </a:solidFill>
              </a:rPr>
              <a:t>Random Forest Regressor</a:t>
            </a:r>
            <a:r>
              <a:rPr lang="en">
                <a:solidFill>
                  <a:schemeClr val="dk1"/>
                </a:solidFill>
              </a:rPr>
              <a:t>, which is a non-parametric method. Random Forest works by building hundreds of individual decision trees and then averaging their predictions to arrive at a final score.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approach is good at capturing highly complex, non-linear relationships and interaction effects, but it is often considered a 'black box' because the logic is harder to trace. The comparison between these two allowed us to weigh </a:t>
            </a:r>
            <a:r>
              <a:rPr b="1" lang="en">
                <a:solidFill>
                  <a:schemeClr val="dk1"/>
                </a:solidFill>
              </a:rPr>
              <a:t>accuracy versus interpretability</a:t>
            </a:r>
            <a:r>
              <a:rPr lang="en">
                <a:solidFill>
                  <a:schemeClr val="dk1"/>
                </a:solidFill>
              </a:rPr>
              <a:t>." </a:t>
            </a:r>
            <a:r>
              <a:rPr b="1" lang="en">
                <a:solidFill>
                  <a:schemeClr val="dk1"/>
                </a:solidFill>
              </a:rPr>
              <a:t>-20 sec</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19d7a480a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19d7a480a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Nabeel: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"Looking at our performance table, both models actually performed quite well, but there is still a clear winner. Our baseline </a:t>
            </a:r>
            <a:r>
              <a:rPr b="1" lang="en">
                <a:solidFill>
                  <a:schemeClr val="dk1"/>
                </a:solidFill>
              </a:rPr>
              <a:t>Linear Regression</a:t>
            </a:r>
            <a:r>
              <a:rPr lang="en">
                <a:solidFill>
                  <a:schemeClr val="dk1"/>
                </a:solidFill>
              </a:rPr>
              <a:t> model achieved an </a:t>
            </a:r>
            <a:r>
              <a:rPr b="1" lang="en">
                <a:solidFill>
                  <a:schemeClr val="dk1"/>
                </a:solidFill>
              </a:rPr>
              <a:t>R-squared of 0.85</a:t>
            </a:r>
            <a:r>
              <a:rPr lang="en">
                <a:solidFill>
                  <a:schemeClr val="dk1"/>
                </a:solidFill>
              </a:rPr>
              <a:t> and an </a:t>
            </a:r>
            <a:r>
              <a:rPr b="1" lang="en">
                <a:solidFill>
                  <a:schemeClr val="dk1"/>
                </a:solidFill>
              </a:rPr>
              <a:t>RMSE of 4.50</a:t>
            </a:r>
            <a:r>
              <a:rPr lang="en">
                <a:solidFill>
                  <a:schemeClr val="dk1"/>
                </a:solidFill>
              </a:rPr>
              <a:t>. While an  R^2 of 0.85 is generally considered strong, in a high-precision manufacturing environment, a margin of error this wide can still result in significant waste.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a:t>
            </a:r>
            <a:r>
              <a:rPr b="1" lang="en">
                <a:solidFill>
                  <a:schemeClr val="dk1"/>
                </a:solidFill>
              </a:rPr>
              <a:t>Random Forest</a:t>
            </a:r>
            <a:r>
              <a:rPr lang="en">
                <a:solidFill>
                  <a:schemeClr val="dk1"/>
                </a:solidFill>
              </a:rPr>
              <a:t> model, however, took performance to the next level. It achieved an </a:t>
            </a:r>
            <a:r>
              <a:rPr b="1" lang="en">
                <a:solidFill>
                  <a:schemeClr val="dk1"/>
                </a:solidFill>
              </a:rPr>
              <a:t>R-squared of 0.99</a:t>
            </a:r>
            <a:r>
              <a:rPr lang="en">
                <a:solidFill>
                  <a:schemeClr val="dk1"/>
                </a:solidFill>
              </a:rPr>
              <a:t> and slashed the </a:t>
            </a:r>
            <a:r>
              <a:rPr b="1" lang="en">
                <a:solidFill>
                  <a:schemeClr val="dk1"/>
                </a:solidFill>
              </a:rPr>
              <a:t>RMSE down to just 0.60</a:t>
            </a:r>
            <a:r>
              <a:rPr lang="en">
                <a:solidFill>
                  <a:schemeClr val="dk1"/>
                </a:solidFill>
              </a:rPr>
              <a:t>. This tells us that the Random Forest is capturing nearly all the variance in product quality, likely due to its ability to process those complex interaction terms we created earlier, like the Material Transformation Metric.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you look at the </a:t>
            </a:r>
            <a:r>
              <a:rPr b="1" lang="en">
                <a:solidFill>
                  <a:schemeClr val="dk1"/>
                </a:solidFill>
              </a:rPr>
              <a:t>Actual vs. Predicted</a:t>
            </a:r>
            <a:r>
              <a:rPr lang="en">
                <a:solidFill>
                  <a:schemeClr val="dk1"/>
                </a:solidFill>
              </a:rPr>
              <a:t> plots on the slide [Point to Figure 3], you can visually see this difference. The Linear Regression points show some noticeable vertical spread or 'noise' around the line. In contrast, the Random Forest points are almost perfectly aligned with the diagonal. This means its predictions are incredibly consistent across the entire range of quality scores."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our </a:t>
            </a:r>
            <a:r>
              <a:rPr b="1" lang="en">
                <a:solidFill>
                  <a:schemeClr val="dk1"/>
                </a:solidFill>
              </a:rPr>
              <a:t>Residual Plots</a:t>
            </a:r>
            <a:r>
              <a:rPr lang="en">
                <a:solidFill>
                  <a:schemeClr val="dk1"/>
                </a:solidFill>
              </a:rPr>
              <a:t> [Point to Figure 4] confirm this. The Random Forest errors are tightly packed near the zero line, whereas the Linear Regression errors are much more scattered. This gives us the confidence that the Random Forest model is the far more reliable choice for a live production environment."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19d7a480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19d7a480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Sevak:</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"Beyond just looking at R^2 scores, we wanted to see how these models would perform in a real factory setting. We conducted a </a:t>
            </a:r>
            <a:r>
              <a:rPr b="1" lang="en">
                <a:solidFill>
                  <a:schemeClr val="dk1"/>
                </a:solidFill>
              </a:rPr>
              <a:t>Tolerance Test</a:t>
            </a:r>
            <a:r>
              <a:rPr lang="en">
                <a:solidFill>
                  <a:schemeClr val="dk1"/>
                </a:solidFill>
              </a:rPr>
              <a:t>, where a prediction is only considered 'successful' if it falls within plus/minus</a:t>
            </a:r>
            <a:r>
              <a:rPr b="1" lang="en">
                <a:solidFill>
                  <a:schemeClr val="dk1"/>
                </a:solidFill>
              </a:rPr>
              <a:t> 1.0 point</a:t>
            </a:r>
            <a:r>
              <a:rPr lang="en">
                <a:solidFill>
                  <a:schemeClr val="dk1"/>
                </a:solidFill>
              </a:rPr>
              <a:t> of the actual quality 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results were staggering. The Linear Regression model was only accurate </a:t>
            </a:r>
            <a:r>
              <a:rPr b="1" lang="en">
                <a:solidFill>
                  <a:schemeClr val="dk1"/>
                </a:solidFill>
              </a:rPr>
              <a:t>11%</a:t>
            </a:r>
            <a:r>
              <a:rPr lang="en">
                <a:solidFill>
                  <a:schemeClr val="dk1"/>
                </a:solidFill>
              </a:rPr>
              <a:t> of the time under these strict conditions. However, the </a:t>
            </a:r>
            <a:r>
              <a:rPr b="1" lang="en">
                <a:solidFill>
                  <a:schemeClr val="dk1"/>
                </a:solidFill>
              </a:rPr>
              <a:t>Random Forest model achieved nearly 100% accuracy</a:t>
            </a:r>
            <a:r>
              <a:rPr lang="en">
                <a:solidFill>
                  <a:schemeClr val="dk1"/>
                </a:solidFill>
              </a:rPr>
              <a:t>. This tells us that the Random Forest isn't just statistically better—it is operationally reliable for an automated production 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of the most valuable outputs of our Random Forest model is the </a:t>
            </a:r>
            <a:r>
              <a:rPr b="1" lang="en">
                <a:solidFill>
                  <a:schemeClr val="dk1"/>
                </a:solidFill>
              </a:rPr>
              <a:t>Feature Importance ranking</a:t>
            </a:r>
            <a:r>
              <a:rPr lang="en">
                <a:solidFill>
                  <a:schemeClr val="dk1"/>
                </a:solidFill>
              </a:rPr>
              <a:t>. Even though the model is complex, it clearly shows us which 'knobs' have the most impact on quality."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Material Transformation Metric</a:t>
            </a:r>
            <a:r>
              <a:rPr lang="en">
                <a:solidFill>
                  <a:schemeClr val="dk1"/>
                </a:solidFill>
              </a:rPr>
              <a:t> and </a:t>
            </a:r>
            <a:r>
              <a:rPr b="1" lang="en">
                <a:solidFill>
                  <a:schemeClr val="dk1"/>
                </a:solidFill>
              </a:rPr>
              <a:t>Temperature</a:t>
            </a:r>
            <a:r>
              <a:rPr lang="en">
                <a:solidFill>
                  <a:schemeClr val="dk1"/>
                </a:solidFill>
              </a:rPr>
              <a:t> were the dominant drivers. This is a critical insight for engineers because it tells them exactly where to focus their attention. If quality starts to slip, the first thing they should check isn't the pressure or the fusion speed—it’s the thermal stability and the transformation metrics of the material."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"Ultimately, we learned that while simple models are easier to explain, they can't handle the physics of manufacturing. In this case, the complexity of the Random Forest is a necessary trade-off for the precision required in quality control.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19d7a480a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19d7a480a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Dinor</a:t>
            </a:r>
            <a:endParaRPr/>
          </a:p>
          <a:p>
            <a:pPr indent="0" lvl="0" marL="0" rtl="0" algn="l">
              <a:spcBef>
                <a:spcPts val="0"/>
              </a:spcBef>
              <a:spcAft>
                <a:spcPts val="0"/>
              </a:spcAft>
              <a:buNone/>
            </a:pPr>
            <a:r>
              <a:rPr lang="en">
                <a:solidFill>
                  <a:schemeClr val="dk1"/>
                </a:solidFill>
              </a:rPr>
              <a:t>"Based on our findings, we have two primary recommendations. First, manufacturers must </a:t>
            </a:r>
            <a:r>
              <a:rPr b="1" lang="en">
                <a:solidFill>
                  <a:schemeClr val="dk1"/>
                </a:solidFill>
              </a:rPr>
              <a:t>prioritize precision control of Temperature</a:t>
            </a:r>
            <a:r>
              <a:rPr lang="en">
                <a:solidFill>
                  <a:schemeClr val="dk1"/>
                </a:solidFill>
              </a:rPr>
              <a:t>. Our feature importance analysis proved that Temperature and its derived metrics are the most influential factors in determining product quality. By investing in high-precision thermal sensors and more responsive cooling or heating systems, companies can tackle the root cause of most quality deviations."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"Second, we recommend the deployment of the </a:t>
            </a:r>
            <a:r>
              <a:rPr b="1" lang="en">
                <a:solidFill>
                  <a:schemeClr val="dk1"/>
                </a:solidFill>
              </a:rPr>
              <a:t>Random Forest model for real-time monitoring</a:t>
            </a:r>
            <a:r>
              <a:rPr lang="en">
                <a:solidFill>
                  <a:schemeClr val="dk1"/>
                </a:solidFill>
              </a:rPr>
              <a:t>. Because this model achieved over 99% accuracy within our testing it can be trusted to serve as an automated 'early warning system.'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model should be integrated into the production line software to </a:t>
            </a:r>
            <a:r>
              <a:rPr b="1" lang="en">
                <a:solidFill>
                  <a:schemeClr val="dk1"/>
                </a:solidFill>
              </a:rPr>
              <a:t>automatically pause the process or trigger an alert</a:t>
            </a:r>
            <a:r>
              <a:rPr lang="en">
                <a:solidFill>
                  <a:schemeClr val="dk1"/>
                </a:solidFill>
              </a:rPr>
              <a:t> when it predicts a quality dip. This moves the facility away from expensive 'inspect and discard' cycles toward a 'predict and prevent' workflow."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shifting to this proactive approach, manufacturers can expect a measurable decrease in scrap rates, optimized material usage, and significantly lower operational costs. Thank you for your time, and we are now happy to take any questions."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0704a6b8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0704a6b8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Nabeel</a:t>
            </a:r>
            <a:endParaRPr/>
          </a:p>
          <a:p>
            <a:pPr indent="0" lvl="0" marL="0" rtl="0" algn="l">
              <a:spcBef>
                <a:spcPts val="0"/>
              </a:spcBef>
              <a:spcAft>
                <a:spcPts val="0"/>
              </a:spcAft>
              <a:buClr>
                <a:schemeClr val="dk1"/>
              </a:buClr>
              <a:buSzPts val="1100"/>
              <a:buFont typeface="Arial"/>
              <a:buNone/>
            </a:pPr>
            <a:r>
              <a:rPr b="1" lang="en">
                <a:solidFill>
                  <a:schemeClr val="dk1"/>
                </a:solidFill>
              </a:rPr>
              <a:t>"Why did Linear Regression perform so poorly?"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a:solidFill>
                  <a:schemeClr val="dk1"/>
                </a:solidFill>
              </a:rPr>
              <a:t>Answer:</a:t>
            </a:r>
            <a:r>
              <a:rPr lang="en">
                <a:solidFill>
                  <a:schemeClr val="dk1"/>
                </a:solidFill>
              </a:rPr>
              <a:t> "The relationship between manufacturing variables like pressure and temperature is non-linear and synergistic. Linear regression can't capture the 'Material Transformation' interaction effectively, which our Random Forest model handled with ease."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"Is the Random Forest model too slow for a real-time line?"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a:solidFill>
                  <a:schemeClr val="dk1"/>
                </a:solidFill>
              </a:rPr>
              <a:t>Answer:</a:t>
            </a:r>
            <a:r>
              <a:rPr lang="en">
                <a:solidFill>
                  <a:schemeClr val="dk1"/>
                </a:solidFill>
              </a:rPr>
              <a:t> "Actually, while Random Forest takes longer to </a:t>
            </a:r>
            <a:r>
              <a:rPr i="1" lang="en">
                <a:solidFill>
                  <a:schemeClr val="dk1"/>
                </a:solidFill>
              </a:rPr>
              <a:t>train</a:t>
            </a:r>
            <a:r>
              <a:rPr lang="en">
                <a:solidFill>
                  <a:schemeClr val="dk1"/>
                </a:solidFill>
              </a:rPr>
              <a:t>, its </a:t>
            </a:r>
            <a:r>
              <a:rPr i="1" lang="en">
                <a:solidFill>
                  <a:schemeClr val="dk1"/>
                </a:solidFill>
              </a:rPr>
              <a:t>prediction</a:t>
            </a:r>
            <a:r>
              <a:rPr lang="en">
                <a:solidFill>
                  <a:schemeClr val="dk1"/>
                </a:solidFill>
              </a:rPr>
              <a:t> time (inference) is measured in milliseconds, making it perfectly suitable for high-speed production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happens if a new material is introduced?"</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a:solidFill>
                  <a:schemeClr val="dk1"/>
                </a:solidFill>
              </a:rPr>
              <a:t>Answer:</a:t>
            </a:r>
            <a:r>
              <a:rPr lang="en">
                <a:solidFill>
                  <a:schemeClr val="dk1"/>
                </a:solidFill>
              </a:rPr>
              <a:t> "The model is currently trained on specific material metrics. If a new material is introduced, we would need to collect a small 'burn-in' dataset and re-train the model to ensure it learns the new physical properties."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421400" y="664000"/>
            <a:ext cx="5133300" cy="278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Predictive Modeling for Manufacturing Quality Control</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By Sevak Glorikian, Dinor Nallbani, Nabeel Sharif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Overview and Motivation</a:t>
            </a:r>
            <a:endParaRPr/>
          </a:p>
        </p:txBody>
      </p:sp>
      <p:sp>
        <p:nvSpPr>
          <p:cNvPr id="141" name="Google Shape;141;p14"/>
          <p:cNvSpPr txBox="1"/>
          <p:nvPr>
            <p:ph idx="1" type="body"/>
          </p:nvPr>
        </p:nvSpPr>
        <p:spPr>
          <a:xfrm>
            <a:off x="1196825" y="1349425"/>
            <a:ext cx="7038900" cy="2911200"/>
          </a:xfrm>
          <a:prstGeom prst="rect">
            <a:avLst/>
          </a:prstGeom>
        </p:spPr>
        <p:txBody>
          <a:bodyPr anchorCtr="0" anchor="t" bIns="91425" lIns="91425" spcFirstLastPara="1" rIns="91425" wrap="square" tIns="91425">
            <a:noAutofit/>
          </a:bodyPr>
          <a:lstStyle/>
          <a:p>
            <a:pPr indent="-318135" lvl="0" marL="457200" rtl="0" algn="l">
              <a:lnSpc>
                <a:spcPct val="100000"/>
              </a:lnSpc>
              <a:spcBef>
                <a:spcPts val="0"/>
              </a:spcBef>
              <a:spcAft>
                <a:spcPts val="0"/>
              </a:spcAft>
              <a:buSzPts val="1410"/>
              <a:buChar char="●"/>
            </a:pPr>
            <a:r>
              <a:rPr lang="en" sz="1410"/>
              <a:t>Traditional Quality Control is Reactive: Standard practice often relies on post-production inspection. </a:t>
            </a:r>
            <a:endParaRPr sz="1410"/>
          </a:p>
          <a:p>
            <a:pPr indent="0" lvl="0" marL="0" rtl="0" algn="l">
              <a:lnSpc>
                <a:spcPct val="100000"/>
              </a:lnSpc>
              <a:spcBef>
                <a:spcPts val="0"/>
              </a:spcBef>
              <a:spcAft>
                <a:spcPts val="0"/>
              </a:spcAft>
              <a:buNone/>
            </a:pPr>
            <a:r>
              <a:t/>
            </a:r>
            <a:endParaRPr sz="1410"/>
          </a:p>
          <a:p>
            <a:pPr indent="-318135" lvl="0" marL="457200" rtl="0" algn="l">
              <a:lnSpc>
                <a:spcPct val="100000"/>
              </a:lnSpc>
              <a:spcBef>
                <a:spcPts val="0"/>
              </a:spcBef>
              <a:spcAft>
                <a:spcPts val="0"/>
              </a:spcAft>
              <a:buSzPts val="1410"/>
              <a:buChar char="●"/>
            </a:pPr>
            <a:r>
              <a:rPr lang="en" sz="1410"/>
              <a:t>This leads to significantly higher scrap rates and operational costs before defects are identified and corrected. </a:t>
            </a:r>
            <a:endParaRPr sz="1410"/>
          </a:p>
          <a:p>
            <a:pPr indent="0" lvl="0" marL="0" rtl="0" algn="l">
              <a:lnSpc>
                <a:spcPct val="100000"/>
              </a:lnSpc>
              <a:spcBef>
                <a:spcPts val="0"/>
              </a:spcBef>
              <a:spcAft>
                <a:spcPts val="0"/>
              </a:spcAft>
              <a:buNone/>
            </a:pPr>
            <a:r>
              <a:t/>
            </a:r>
            <a:endParaRPr sz="1410"/>
          </a:p>
          <a:p>
            <a:pPr indent="-318135" lvl="0" marL="457200" rtl="0" algn="l">
              <a:lnSpc>
                <a:spcPct val="100000"/>
              </a:lnSpc>
              <a:spcBef>
                <a:spcPts val="0"/>
              </a:spcBef>
              <a:spcAft>
                <a:spcPts val="0"/>
              </a:spcAft>
              <a:buSzPts val="1410"/>
              <a:buChar char="●"/>
            </a:pPr>
            <a:r>
              <a:rPr lang="en" sz="1410"/>
              <a:t>The Goal: Develop a proact</a:t>
            </a:r>
            <a:r>
              <a:rPr lang="en" sz="1410"/>
              <a:t>i</a:t>
            </a:r>
            <a:r>
              <a:rPr lang="en" sz="1410"/>
              <a:t>ve predictive quality model to forecast the "Quality Rating" based on real-time process data. </a:t>
            </a:r>
            <a:endParaRPr sz="1410"/>
          </a:p>
          <a:p>
            <a:pPr indent="0" lvl="0" marL="457200" rtl="0" algn="l">
              <a:lnSpc>
                <a:spcPct val="100000"/>
              </a:lnSpc>
              <a:spcBef>
                <a:spcPts val="0"/>
              </a:spcBef>
              <a:spcAft>
                <a:spcPts val="0"/>
              </a:spcAft>
              <a:buNone/>
            </a:pPr>
            <a:r>
              <a:t/>
            </a:r>
            <a:endParaRPr sz="1410"/>
          </a:p>
          <a:p>
            <a:pPr indent="-318135" lvl="0" marL="457200" rtl="0" algn="l">
              <a:lnSpc>
                <a:spcPct val="100000"/>
              </a:lnSpc>
              <a:spcBef>
                <a:spcPts val="0"/>
              </a:spcBef>
              <a:spcAft>
                <a:spcPts val="0"/>
              </a:spcAft>
              <a:buSzPts val="1410"/>
              <a:buChar char="●"/>
            </a:pPr>
            <a:r>
              <a:rPr lang="en" sz="1410"/>
              <a:t>Motivation: Allow manufacturers to dynamically adjust parameters in real-time, eliminating waste and reducing costs.</a:t>
            </a:r>
            <a:endParaRPr sz="141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Description &amp; Preprocessing</a:t>
            </a:r>
            <a:endParaRPr/>
          </a:p>
        </p:txBody>
      </p:sp>
      <p:sp>
        <p:nvSpPr>
          <p:cNvPr id="147" name="Google Shape;147;p15"/>
          <p:cNvSpPr txBox="1"/>
          <p:nvPr>
            <p:ph idx="1" type="body"/>
          </p:nvPr>
        </p:nvSpPr>
        <p:spPr>
          <a:xfrm>
            <a:off x="148200" y="1408650"/>
            <a:ext cx="5631900" cy="3524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400"/>
              <a:t>Target Variable (Y):</a:t>
            </a:r>
            <a:r>
              <a:rPr lang="en" sz="1400"/>
              <a:t> </a:t>
            </a:r>
            <a:r>
              <a:rPr b="1" lang="en" sz="1400"/>
              <a:t>Quality Rating</a:t>
            </a:r>
            <a:r>
              <a:rPr lang="en" sz="1400"/>
              <a:t> (Overall quality score, 0-100). </a:t>
            </a:r>
            <a:endParaRPr baseline="30000" sz="1400"/>
          </a:p>
          <a:p>
            <a:pPr indent="0" lvl="0" marL="0" rtl="0" algn="l">
              <a:spcBef>
                <a:spcPts val="0"/>
              </a:spcBef>
              <a:spcAft>
                <a:spcPts val="0"/>
              </a:spcAft>
              <a:buNone/>
            </a:pPr>
            <a:r>
              <a:rPr b="1" lang="en" sz="1400"/>
              <a:t>Key Input Features (X):</a:t>
            </a:r>
            <a:endParaRPr b="1" sz="1400"/>
          </a:p>
          <a:p>
            <a:pPr indent="-317500" lvl="0" marL="457200" rtl="0" algn="l">
              <a:spcBef>
                <a:spcPts val="0"/>
              </a:spcBef>
              <a:spcAft>
                <a:spcPts val="0"/>
              </a:spcAft>
              <a:buClr>
                <a:schemeClr val="lt1"/>
              </a:buClr>
              <a:buSzPts val="1400"/>
              <a:buFont typeface="Arial"/>
              <a:buChar char="●"/>
            </a:pPr>
            <a:r>
              <a:rPr b="1" lang="en" sz="1400"/>
              <a:t>Process Parameters:</a:t>
            </a:r>
            <a:r>
              <a:rPr lang="en" sz="1400"/>
              <a:t> Temperature (Celcius) and Pressure (kPa). </a:t>
            </a:r>
            <a:endParaRPr baseline="30000" sz="1400"/>
          </a:p>
          <a:p>
            <a:pPr indent="-317500" lvl="0" marL="457200" rtl="0" algn="l">
              <a:spcBef>
                <a:spcPts val="0"/>
              </a:spcBef>
              <a:spcAft>
                <a:spcPts val="0"/>
              </a:spcAft>
              <a:buClr>
                <a:schemeClr val="lt1"/>
              </a:buClr>
              <a:buSzPts val="1400"/>
              <a:buFont typeface="Arial"/>
              <a:buChar char="●"/>
            </a:pPr>
            <a:r>
              <a:rPr b="1" lang="en" sz="1400"/>
              <a:t>Derived Metrics:</a:t>
            </a:r>
            <a:r>
              <a:rPr lang="en" sz="1400"/>
              <a:t> Material Fusion Metric and Material Transformation Metric. </a:t>
            </a:r>
            <a:endParaRPr baseline="30000" sz="1400"/>
          </a:p>
          <a:p>
            <a:pPr indent="0" lvl="0" marL="0" rtl="0" algn="l">
              <a:spcBef>
                <a:spcPts val="1200"/>
              </a:spcBef>
              <a:spcAft>
                <a:spcPts val="0"/>
              </a:spcAft>
              <a:buNone/>
            </a:pPr>
            <a:r>
              <a:rPr b="1" lang="en" sz="1400"/>
              <a:t>Preprocessing:</a:t>
            </a:r>
            <a:r>
              <a:rPr lang="en" sz="1400"/>
              <a:t> Data was high-quality (no missing values/duplicates). </a:t>
            </a:r>
            <a:endParaRPr baseline="30000"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Scaling:</a:t>
            </a:r>
            <a:r>
              <a:rPr lang="en" sz="1400"/>
              <a:t> We used </a:t>
            </a:r>
            <a:r>
              <a:rPr b="1" lang="en" sz="1400"/>
              <a:t>StandardScaler</a:t>
            </a:r>
            <a:r>
              <a:rPr lang="en" sz="1400"/>
              <a:t> to standardize features</a:t>
            </a:r>
            <a:endParaRPr sz="1400"/>
          </a:p>
          <a:p>
            <a:pPr indent="0" lvl="0" marL="0" rtl="0" algn="l">
              <a:spcBef>
                <a:spcPts val="0"/>
              </a:spcBef>
              <a:spcAft>
                <a:spcPts val="0"/>
              </a:spcAft>
              <a:buNone/>
            </a:pPr>
            <a:r>
              <a:rPr lang="en" sz="1400"/>
              <a:t>(mean=0, std dev=1) for the Linear Regression model.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Correlation Insight:</a:t>
            </a:r>
            <a:r>
              <a:rPr lang="en" sz="1400"/>
              <a:t> Strong correlations were observed between the base parameters and the derived metrics, suggesting potential </a:t>
            </a:r>
            <a:r>
              <a:rPr lang="en" sz="1400"/>
              <a:t>nonlinear</a:t>
            </a:r>
            <a:r>
              <a:rPr lang="en" sz="1400"/>
              <a:t> dependencies. </a:t>
            </a:r>
            <a:endParaRPr sz="1400"/>
          </a:p>
          <a:p>
            <a:pPr indent="0" lvl="0" marL="0" rtl="0" algn="l">
              <a:spcBef>
                <a:spcPts val="0"/>
              </a:spcBef>
              <a:spcAft>
                <a:spcPts val="1200"/>
              </a:spcAft>
              <a:buNone/>
            </a:pPr>
            <a:r>
              <a:t/>
            </a:r>
            <a:endParaRPr sz="1400"/>
          </a:p>
        </p:txBody>
      </p:sp>
      <p:pic>
        <p:nvPicPr>
          <p:cNvPr id="148" name="Google Shape;148;p15"/>
          <p:cNvPicPr preferRelativeResize="0"/>
          <p:nvPr/>
        </p:nvPicPr>
        <p:blipFill>
          <a:blip r:embed="rId3">
            <a:alphaModFix/>
          </a:blip>
          <a:stretch>
            <a:fillRect/>
          </a:stretch>
        </p:blipFill>
        <p:spPr>
          <a:xfrm>
            <a:off x="5865050" y="1408650"/>
            <a:ext cx="3110175" cy="232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Modeling Methodology</a:t>
            </a:r>
            <a:endParaRPr/>
          </a:p>
        </p:txBody>
      </p:sp>
      <p:sp>
        <p:nvSpPr>
          <p:cNvPr id="154" name="Google Shape;154;p16"/>
          <p:cNvSpPr txBox="1"/>
          <p:nvPr>
            <p:ph idx="1" type="body"/>
          </p:nvPr>
        </p:nvSpPr>
        <p:spPr>
          <a:xfrm>
            <a:off x="995500" y="1509175"/>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Objective:</a:t>
            </a:r>
            <a:r>
              <a:rPr lang="en" sz="1400"/>
              <a:t> Compare a simple </a:t>
            </a:r>
            <a:r>
              <a:rPr b="1" lang="en" sz="1400"/>
              <a:t>parametric baseline</a:t>
            </a:r>
            <a:r>
              <a:rPr lang="en" sz="1400"/>
              <a:t> against a </a:t>
            </a:r>
            <a:r>
              <a:rPr b="1" lang="en" sz="1400"/>
              <a:t>non-parametric ensemble</a:t>
            </a:r>
            <a:r>
              <a:rPr lang="en" sz="1400"/>
              <a:t> model to handle potential non-linearities in the manufacturing process. </a:t>
            </a:r>
            <a:endParaRPr baseline="30000" sz="1400"/>
          </a:p>
          <a:p>
            <a:pPr indent="0" lvl="0" marL="0" rtl="0" algn="l">
              <a:spcBef>
                <a:spcPts val="0"/>
              </a:spcBef>
              <a:spcAft>
                <a:spcPts val="0"/>
              </a:spcAft>
              <a:buNone/>
            </a:pPr>
            <a:r>
              <a:rPr b="1" lang="en" sz="1400"/>
              <a:t>Data Strategy:</a:t>
            </a:r>
            <a:r>
              <a:rPr lang="en" sz="1400"/>
              <a:t> Used an </a:t>
            </a:r>
            <a:r>
              <a:rPr b="1" lang="en" sz="1400"/>
              <a:t>80/20 Train-Test Split</a:t>
            </a:r>
            <a:r>
              <a:rPr lang="en" sz="1400"/>
              <a:t> to evaluate performance on unseen data. </a:t>
            </a:r>
            <a:endParaRPr baseline="30000" sz="1400"/>
          </a:p>
          <a:p>
            <a:pPr indent="0" lvl="0" marL="0" rtl="0" algn="l">
              <a:spcBef>
                <a:spcPts val="0"/>
              </a:spcBef>
              <a:spcAft>
                <a:spcPts val="0"/>
              </a:spcAft>
              <a:buNone/>
            </a:pPr>
            <a:r>
              <a:rPr b="1" lang="en" sz="1400"/>
              <a:t>Model 1: Linear Regression (Baseline)</a:t>
            </a:r>
            <a:endParaRPr b="1" sz="1400"/>
          </a:p>
          <a:p>
            <a:pPr indent="-317500" lvl="0" marL="457200" rtl="0" algn="l">
              <a:spcBef>
                <a:spcPts val="0"/>
              </a:spcBef>
              <a:spcAft>
                <a:spcPts val="0"/>
              </a:spcAft>
              <a:buClr>
                <a:schemeClr val="lt1"/>
              </a:buClr>
              <a:buSzPts val="1400"/>
              <a:buFont typeface="Lato"/>
              <a:buChar char="●"/>
            </a:pPr>
            <a:r>
              <a:rPr lang="en" sz="1400"/>
              <a:t>Assumes a linear relationship.</a:t>
            </a:r>
            <a:endParaRPr baseline="30000" sz="1400"/>
          </a:p>
          <a:p>
            <a:pPr indent="-317500" lvl="0" marL="457200" rtl="0" algn="l">
              <a:spcBef>
                <a:spcPts val="0"/>
              </a:spcBef>
              <a:spcAft>
                <a:spcPts val="0"/>
              </a:spcAft>
              <a:buClr>
                <a:schemeClr val="lt1"/>
              </a:buClr>
              <a:buSzPts val="1400"/>
              <a:buFont typeface="Arial"/>
              <a:buChar char="●"/>
            </a:pPr>
            <a:r>
              <a:rPr b="1" lang="en" sz="1400"/>
              <a:t>Pro:</a:t>
            </a:r>
            <a:r>
              <a:rPr lang="en" sz="1400"/>
              <a:t> High Interpretability. </a:t>
            </a:r>
            <a:endParaRPr sz="1400"/>
          </a:p>
          <a:p>
            <a:pPr indent="-317500" lvl="0" marL="457200" rtl="0" algn="l">
              <a:spcBef>
                <a:spcPts val="0"/>
              </a:spcBef>
              <a:spcAft>
                <a:spcPts val="0"/>
              </a:spcAft>
              <a:buClr>
                <a:schemeClr val="lt1"/>
              </a:buClr>
              <a:buSzPts val="1400"/>
              <a:buFont typeface="Arial"/>
              <a:buChar char="●"/>
            </a:pPr>
            <a:r>
              <a:rPr b="1" lang="en" sz="1400"/>
              <a:t>Con:</a:t>
            </a:r>
            <a:r>
              <a:rPr lang="en" sz="1400"/>
              <a:t> Struggles with non-linear relationships. </a:t>
            </a:r>
            <a:endParaRPr baseline="30000" sz="1400"/>
          </a:p>
          <a:p>
            <a:pPr indent="0" lvl="0" marL="0" rtl="0" algn="l">
              <a:spcBef>
                <a:spcPts val="1200"/>
              </a:spcBef>
              <a:spcAft>
                <a:spcPts val="0"/>
              </a:spcAft>
              <a:buNone/>
            </a:pPr>
            <a:r>
              <a:rPr b="1" lang="en" sz="1400"/>
              <a:t>Model 2: Random Forest Regressor</a:t>
            </a:r>
            <a:endParaRPr b="1" sz="1400"/>
          </a:p>
          <a:p>
            <a:pPr indent="-317500" lvl="0" marL="457200" rtl="0" algn="l">
              <a:spcBef>
                <a:spcPts val="0"/>
              </a:spcBef>
              <a:spcAft>
                <a:spcPts val="0"/>
              </a:spcAft>
              <a:buClr>
                <a:schemeClr val="lt1"/>
              </a:buClr>
              <a:buSzPts val="1400"/>
              <a:buFont typeface="Lato"/>
              <a:buChar char="●"/>
            </a:pPr>
            <a:r>
              <a:rPr lang="en" sz="1400"/>
              <a:t>An ensemble method that builds a multitude of decision trees. </a:t>
            </a:r>
            <a:endParaRPr baseline="30000" sz="1400"/>
          </a:p>
          <a:p>
            <a:pPr indent="-317500" lvl="0" marL="457200" rtl="0" algn="l">
              <a:spcBef>
                <a:spcPts val="0"/>
              </a:spcBef>
              <a:spcAft>
                <a:spcPts val="0"/>
              </a:spcAft>
              <a:buClr>
                <a:schemeClr val="lt1"/>
              </a:buClr>
              <a:buSzPts val="1400"/>
              <a:buFont typeface="Lato"/>
              <a:buChar char="●"/>
            </a:pPr>
            <a:r>
              <a:rPr lang="en" sz="1400"/>
              <a:t>Final prediction is the average of all trees. </a:t>
            </a:r>
            <a:endParaRPr baseline="30000" sz="1400"/>
          </a:p>
          <a:p>
            <a:pPr indent="-317500" lvl="0" marL="457200" rtl="0" algn="l">
              <a:spcBef>
                <a:spcPts val="0"/>
              </a:spcBef>
              <a:spcAft>
                <a:spcPts val="0"/>
              </a:spcAft>
              <a:buClr>
                <a:schemeClr val="lt1"/>
              </a:buClr>
              <a:buSzPts val="1400"/>
              <a:buFont typeface="Arial"/>
              <a:buChar char="●"/>
            </a:pPr>
            <a:r>
              <a:rPr b="1" lang="en" sz="1400"/>
              <a:t>Pro:</a:t>
            </a:r>
            <a:r>
              <a:rPr lang="en" sz="1400"/>
              <a:t> Robust against overfitting; handles complex interactions effectively.</a:t>
            </a:r>
            <a:endParaRPr sz="1400"/>
          </a:p>
          <a:p>
            <a:pPr indent="0" lvl="0" marL="0" rtl="0" algn="l">
              <a:spcBef>
                <a:spcPts val="1200"/>
              </a:spcBef>
              <a:spcAft>
                <a:spcPts val="1200"/>
              </a:spcAft>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and Performance Comparison</a:t>
            </a:r>
            <a:endParaRPr/>
          </a:p>
        </p:txBody>
      </p:sp>
      <p:pic>
        <p:nvPicPr>
          <p:cNvPr id="160" name="Google Shape;160;p17"/>
          <p:cNvPicPr preferRelativeResize="0"/>
          <p:nvPr/>
        </p:nvPicPr>
        <p:blipFill>
          <a:blip r:embed="rId3">
            <a:alphaModFix/>
          </a:blip>
          <a:stretch>
            <a:fillRect/>
          </a:stretch>
        </p:blipFill>
        <p:spPr>
          <a:xfrm>
            <a:off x="2551388" y="1043275"/>
            <a:ext cx="4041226" cy="1300475"/>
          </a:xfrm>
          <a:prstGeom prst="rect">
            <a:avLst/>
          </a:prstGeom>
          <a:noFill/>
          <a:ln>
            <a:noFill/>
          </a:ln>
        </p:spPr>
      </p:pic>
      <p:pic>
        <p:nvPicPr>
          <p:cNvPr id="161" name="Google Shape;161;p17" title="Screenshot 2025-12-14 at 12.46.48 PM.png"/>
          <p:cNvPicPr preferRelativeResize="0"/>
          <p:nvPr/>
        </p:nvPicPr>
        <p:blipFill>
          <a:blip r:embed="rId4">
            <a:alphaModFix/>
          </a:blip>
          <a:stretch>
            <a:fillRect/>
          </a:stretch>
        </p:blipFill>
        <p:spPr>
          <a:xfrm>
            <a:off x="118650" y="2749725"/>
            <a:ext cx="4704552" cy="2037274"/>
          </a:xfrm>
          <a:prstGeom prst="rect">
            <a:avLst/>
          </a:prstGeom>
          <a:noFill/>
          <a:ln>
            <a:noFill/>
          </a:ln>
        </p:spPr>
      </p:pic>
      <p:pic>
        <p:nvPicPr>
          <p:cNvPr id="162" name="Google Shape;162;p17" title="Screenshot 2025-12-14 at 12.47.06 PM.png"/>
          <p:cNvPicPr preferRelativeResize="0"/>
          <p:nvPr/>
        </p:nvPicPr>
        <p:blipFill>
          <a:blip r:embed="rId5">
            <a:alphaModFix/>
          </a:blip>
          <a:stretch>
            <a:fillRect/>
          </a:stretch>
        </p:blipFill>
        <p:spPr>
          <a:xfrm>
            <a:off x="4752475" y="2749725"/>
            <a:ext cx="4272901" cy="2037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Key Insights and Applicability</a:t>
            </a:r>
            <a:endParaRPr/>
          </a:p>
        </p:txBody>
      </p:sp>
      <p:sp>
        <p:nvSpPr>
          <p:cNvPr id="168" name="Google Shape;168;p18"/>
          <p:cNvSpPr txBox="1"/>
          <p:nvPr>
            <p:ph idx="1" type="body"/>
          </p:nvPr>
        </p:nvSpPr>
        <p:spPr>
          <a:xfrm>
            <a:off x="1297500" y="1567550"/>
            <a:ext cx="74271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Tolerance Test (Real-World Metric):</a:t>
            </a:r>
            <a:r>
              <a:rPr lang="en" sz="1400"/>
              <a:t> We defined operational success as being within a </a:t>
            </a:r>
            <a:r>
              <a:rPr b="1" lang="en" sz="1400"/>
              <a:t> </a:t>
            </a:r>
            <a:r>
              <a:rPr lang="en" sz="1400"/>
              <a:t>土 1</a:t>
            </a:r>
            <a:r>
              <a:rPr b="1" lang="en" sz="1400"/>
              <a:t>.0 point tolerance</a:t>
            </a:r>
            <a:r>
              <a:rPr lang="en" sz="1400"/>
              <a:t> of the actual quality rating. </a:t>
            </a:r>
            <a:endParaRPr baseline="30000" sz="1400"/>
          </a:p>
          <a:p>
            <a:pPr indent="-317500" lvl="0" marL="457200" rtl="0" algn="l">
              <a:spcBef>
                <a:spcPts val="0"/>
              </a:spcBef>
              <a:spcAft>
                <a:spcPts val="0"/>
              </a:spcAft>
              <a:buClr>
                <a:schemeClr val="lt1"/>
              </a:buClr>
              <a:buSzPts val="1400"/>
              <a:buFont typeface="Arial"/>
              <a:buChar char="●"/>
            </a:pPr>
            <a:r>
              <a:rPr lang="en" sz="1400"/>
              <a:t>Linear Regression achieved </a:t>
            </a:r>
            <a:r>
              <a:rPr b="1" lang="en" sz="1400"/>
              <a:t>10.98%</a:t>
            </a:r>
            <a:r>
              <a:rPr lang="en" sz="1400"/>
              <a:t> accuracy within tolerance.</a:t>
            </a:r>
            <a:endParaRPr sz="1400"/>
          </a:p>
          <a:p>
            <a:pPr indent="-317500" lvl="0" marL="457200" rtl="0" algn="l">
              <a:spcBef>
                <a:spcPts val="0"/>
              </a:spcBef>
              <a:spcAft>
                <a:spcPts val="0"/>
              </a:spcAft>
              <a:buClr>
                <a:schemeClr val="lt1"/>
              </a:buClr>
              <a:buSzPts val="1400"/>
              <a:buFont typeface="Arial"/>
              <a:buChar char="●"/>
            </a:pPr>
            <a:r>
              <a:rPr lang="en" sz="1400"/>
              <a:t>Random Forest achieved </a:t>
            </a:r>
            <a:r>
              <a:rPr b="1" lang="en" sz="1400"/>
              <a:t>99.87%</a:t>
            </a:r>
            <a:r>
              <a:rPr lang="en" sz="1400"/>
              <a:t> accuracy within tolerance. </a:t>
            </a:r>
            <a:endParaRPr baseline="30000" sz="1400"/>
          </a:p>
          <a:p>
            <a:pPr indent="0" lvl="0" marL="0" rtl="0" algn="l">
              <a:spcBef>
                <a:spcPts val="1200"/>
              </a:spcBef>
              <a:spcAft>
                <a:spcPts val="0"/>
              </a:spcAft>
              <a:buNone/>
            </a:pPr>
            <a:r>
              <a:rPr b="1" lang="en" sz="1400"/>
              <a:t>The Random Forest model is reliable enough</a:t>
            </a:r>
            <a:r>
              <a:rPr lang="en" sz="1400"/>
              <a:t> for real-world deployment and automated quality sorting. </a:t>
            </a:r>
            <a:endParaRPr baseline="30000" sz="1400"/>
          </a:p>
          <a:p>
            <a:pPr indent="0" lvl="0" marL="0" rtl="0" algn="l">
              <a:spcBef>
                <a:spcPts val="0"/>
              </a:spcBef>
              <a:spcAft>
                <a:spcPts val="0"/>
              </a:spcAft>
              <a:buNone/>
            </a:pPr>
            <a:r>
              <a:rPr b="1" lang="en" sz="1400"/>
              <a:t>Top Feature Importance Drivers:</a:t>
            </a:r>
            <a:endParaRPr b="1" sz="1400"/>
          </a:p>
          <a:p>
            <a:pPr indent="-317500" lvl="0" marL="457200" rtl="0" algn="l">
              <a:spcBef>
                <a:spcPts val="0"/>
              </a:spcBef>
              <a:spcAft>
                <a:spcPts val="0"/>
              </a:spcAft>
              <a:buClr>
                <a:schemeClr val="lt1"/>
              </a:buClr>
              <a:buSzPts val="1400"/>
              <a:buFont typeface="Arial"/>
              <a:buAutoNum type="arabicPeriod"/>
            </a:pPr>
            <a:r>
              <a:rPr b="1" lang="en" sz="1400"/>
              <a:t>Material Transformation Metric</a:t>
            </a:r>
            <a:r>
              <a:rPr lang="en" sz="1400"/>
              <a:t> </a:t>
            </a:r>
            <a:endParaRPr sz="1400"/>
          </a:p>
          <a:p>
            <a:pPr indent="-317500" lvl="0" marL="457200" rtl="0" algn="l">
              <a:spcBef>
                <a:spcPts val="0"/>
              </a:spcBef>
              <a:spcAft>
                <a:spcPts val="0"/>
              </a:spcAft>
              <a:buClr>
                <a:schemeClr val="lt1"/>
              </a:buClr>
              <a:buSzPts val="1400"/>
              <a:buFont typeface="Lato"/>
              <a:buAutoNum type="arabicPeriod"/>
            </a:pPr>
            <a:r>
              <a:rPr b="1" lang="en" sz="1400"/>
              <a:t>Temperature </a:t>
            </a:r>
            <a:endParaRPr b="1" sz="1400"/>
          </a:p>
          <a:p>
            <a:pPr indent="-317500" lvl="0" marL="457200" rtl="0" algn="l">
              <a:spcBef>
                <a:spcPts val="0"/>
              </a:spcBef>
              <a:spcAft>
                <a:spcPts val="0"/>
              </a:spcAft>
              <a:buClr>
                <a:schemeClr val="lt1"/>
              </a:buClr>
              <a:buSzPts val="1400"/>
              <a:buFont typeface="Arial"/>
              <a:buAutoNum type="arabicPeriod"/>
            </a:pPr>
            <a:r>
              <a:rPr b="1" lang="en" sz="1400"/>
              <a:t>Material Fusion Metric</a:t>
            </a:r>
            <a:r>
              <a:rPr lang="en" sz="1400"/>
              <a:t> </a:t>
            </a:r>
            <a:endParaRPr sz="1400"/>
          </a:p>
          <a:p>
            <a:pPr indent="0" lvl="0" marL="0" rtl="0" algn="l">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Recommendations for Quality Improvement</a:t>
            </a:r>
            <a:endParaRPr/>
          </a:p>
        </p:txBody>
      </p:sp>
      <p:sp>
        <p:nvSpPr>
          <p:cNvPr id="174" name="Google Shape;174;p19"/>
          <p:cNvSpPr txBox="1"/>
          <p:nvPr>
            <p:ph idx="1" type="body"/>
          </p:nvPr>
        </p:nvSpPr>
        <p:spPr>
          <a:xfrm>
            <a:off x="1297500" y="11900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1. Prioritize Precision Control of Temperature:</a:t>
            </a:r>
            <a:endParaRPr b="1" sz="1400"/>
          </a:p>
          <a:p>
            <a:pPr indent="-317500" lvl="0" marL="457200" rtl="0" algn="l">
              <a:spcBef>
                <a:spcPts val="1200"/>
              </a:spcBef>
              <a:spcAft>
                <a:spcPts val="0"/>
              </a:spcAft>
              <a:buClr>
                <a:schemeClr val="lt1"/>
              </a:buClr>
              <a:buSzPts val="1400"/>
              <a:buFont typeface="Lato"/>
              <a:buChar char="●"/>
            </a:pPr>
            <a:r>
              <a:rPr lang="en" sz="1400"/>
              <a:t>Temperature and its derived metrics are the dominant factors in quality variation.</a:t>
            </a:r>
            <a:endParaRPr sz="1400"/>
          </a:p>
          <a:p>
            <a:pPr indent="-317500" lvl="0" marL="457200" rtl="0" algn="l">
              <a:spcBef>
                <a:spcPts val="0"/>
              </a:spcBef>
              <a:spcAft>
                <a:spcPts val="0"/>
              </a:spcAft>
              <a:buClr>
                <a:schemeClr val="lt1"/>
              </a:buClr>
              <a:buSzPts val="1400"/>
              <a:buFont typeface="Arial"/>
              <a:buChar char="●"/>
            </a:pPr>
            <a:r>
              <a:rPr lang="en" sz="1400"/>
              <a:t>Investment in </a:t>
            </a:r>
            <a:r>
              <a:rPr b="1" lang="en" sz="1400"/>
              <a:t>high-precision thermal sensors</a:t>
            </a:r>
            <a:r>
              <a:rPr lang="en" sz="1400"/>
              <a:t> will yield the highest Return on Investment (ROI) for quality improvement.</a:t>
            </a:r>
            <a:endParaRPr sz="1400"/>
          </a:p>
          <a:p>
            <a:pPr indent="0" lvl="0" marL="0" rtl="0" algn="l">
              <a:spcBef>
                <a:spcPts val="1200"/>
              </a:spcBef>
              <a:spcAft>
                <a:spcPts val="0"/>
              </a:spcAft>
              <a:buNone/>
            </a:pPr>
            <a:r>
              <a:rPr b="1" lang="en" sz="1400"/>
              <a:t>2. Implement Real-Time Predictive Monitoring:</a:t>
            </a:r>
            <a:endParaRPr b="1" sz="1400"/>
          </a:p>
          <a:p>
            <a:pPr indent="-317500" lvl="0" marL="457200" rtl="0" algn="l">
              <a:spcBef>
                <a:spcPts val="1200"/>
              </a:spcBef>
              <a:spcAft>
                <a:spcPts val="0"/>
              </a:spcAft>
              <a:buClr>
                <a:schemeClr val="lt1"/>
              </a:buClr>
              <a:buSzPts val="1400"/>
              <a:buFont typeface="Arial"/>
              <a:buChar char="●"/>
            </a:pPr>
            <a:r>
              <a:rPr lang="en" sz="1400"/>
              <a:t>Deploy the </a:t>
            </a:r>
            <a:r>
              <a:rPr b="1" lang="en" sz="1400"/>
              <a:t>Random Forest model</a:t>
            </a:r>
            <a:r>
              <a:rPr lang="en" sz="1400"/>
              <a:t> to the production line.</a:t>
            </a:r>
            <a:endParaRPr sz="1400"/>
          </a:p>
          <a:p>
            <a:pPr indent="-317500" lvl="0" marL="457200" rtl="0" algn="l">
              <a:spcBef>
                <a:spcPts val="0"/>
              </a:spcBef>
              <a:spcAft>
                <a:spcPts val="0"/>
              </a:spcAft>
              <a:buClr>
                <a:schemeClr val="lt1"/>
              </a:buClr>
              <a:buSzPts val="1400"/>
              <a:buFont typeface="Arial"/>
              <a:buChar char="●"/>
            </a:pPr>
            <a:r>
              <a:rPr lang="en" sz="1400"/>
              <a:t>If the model predicts quality below a pre-set threshold, the system should </a:t>
            </a:r>
            <a:r>
              <a:rPr b="1" lang="en" sz="1400"/>
              <a:t>automatically pause for calibration</a:t>
            </a:r>
            <a:r>
              <a:rPr lang="en" sz="1400"/>
              <a:t> or adjust parameters immediately.</a:t>
            </a:r>
            <a:endParaRPr sz="1400"/>
          </a:p>
          <a:p>
            <a:pPr indent="0" lvl="0" marL="0" rtl="0" algn="l">
              <a:spcBef>
                <a:spcPts val="1200"/>
              </a:spcBef>
              <a:spcAft>
                <a:spcPts val="120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052550" y="211470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